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4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8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858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43712"/>
            <a:ext cx="10515600" cy="580339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143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24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4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72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78712" y="6173787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40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87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0528" y="1139952"/>
            <a:ext cx="4596384" cy="4574095"/>
          </a:xfrm>
        </p:spPr>
        <p:txBody>
          <a:bodyPr/>
          <a:lstStyle>
            <a:lvl1pPr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160" y="397830"/>
            <a:ext cx="5681472" cy="565841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852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2C41A396-4C0D-5E28-3C3B-12CA69AC113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E"/>
          </a:p>
        </p:txBody>
      </p:sp>
      <p:pic>
        <p:nvPicPr>
          <p:cNvPr id="14" name="Picture 13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B1A08454-8BBA-0062-637E-89A276767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643" y="642778"/>
            <a:ext cx="2011680" cy="191414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Picture 15" descr="A person with glasses and a beard&#10;&#10;AI-generated content may be incorrect.">
            <a:extLst>
              <a:ext uri="{FF2B5EF4-FFF2-40B4-BE49-F238E27FC236}">
                <a16:creationId xmlns:a16="http://schemas.microsoft.com/office/drawing/2014/main" id="{A598DE39-71E7-CEE1-5C6B-E6932A9B3F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91" y="3280708"/>
            <a:ext cx="2281032" cy="21070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 descr="A person with long blonde hair sitting at a table with a phone&#10;&#10;AI-generated content may be incorrect.">
            <a:extLst>
              <a:ext uri="{FF2B5EF4-FFF2-40B4-BE49-F238E27FC236}">
                <a16:creationId xmlns:a16="http://schemas.microsoft.com/office/drawing/2014/main" id="{605E9D10-A0F8-DD5F-0E61-BA16A81104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043" y="537108"/>
            <a:ext cx="2478157" cy="232907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70719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09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9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ED807A-CCFC-B8AC-F0EB-9E6C80D241D3}"/>
              </a:ext>
            </a:extLst>
          </p:cNvPr>
          <p:cNvSpPr/>
          <p:nvPr userDrawn="1"/>
        </p:nvSpPr>
        <p:spPr>
          <a:xfrm>
            <a:off x="1" y="4843293"/>
            <a:ext cx="5715331" cy="201470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CB551C-8E03-A671-5D9F-129FC1BF9BBE}"/>
              </a:ext>
            </a:extLst>
          </p:cNvPr>
          <p:cNvSpPr/>
          <p:nvPr userDrawn="1"/>
        </p:nvSpPr>
        <p:spPr>
          <a:xfrm>
            <a:off x="239352" y="223641"/>
            <a:ext cx="11713301" cy="6372000"/>
          </a:xfrm>
          <a:prstGeom prst="rect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AB3587B-1350-851A-7B75-FE525E4D29F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43340" y="6621470"/>
            <a:ext cx="11137237" cy="302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2200" kern="1200">
                <a:solidFill>
                  <a:schemeClr val="bg1"/>
                </a:solidFill>
                <a:latin typeface="Arial"/>
                <a:ea typeface="ＭＳ Ｐゴシック" charset="0"/>
                <a:cs typeface="Arial"/>
              </a:defRPr>
            </a:lvl1pPr>
            <a:lvl2pPr marL="4572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2pPr>
            <a:lvl3pPr marL="9144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3pPr>
            <a:lvl4pPr marL="13716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4pPr>
            <a:lvl5pPr marL="18288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sv-SE" sz="600" b="1" spc="300" dirty="0"/>
              <a:t>LULEÅ UNIVERSITY OF</a:t>
            </a:r>
            <a:r>
              <a:rPr lang="sv-SE" sz="600" b="1" spc="300" baseline="0" dirty="0"/>
              <a:t> TECHNOLOGY</a:t>
            </a:r>
            <a:endParaRPr lang="en-US" sz="600" b="1" spc="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C1AD70-7597-7F74-5B5A-03ADA7548C9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5167" y="5540707"/>
            <a:ext cx="2014789" cy="9926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8095E7-18FF-AA6D-3A37-9693F740A5EB}"/>
              </a:ext>
            </a:extLst>
          </p:cNvPr>
          <p:cNvSpPr txBox="1"/>
          <p:nvPr userDrawn="1"/>
        </p:nvSpPr>
        <p:spPr>
          <a:xfrm>
            <a:off x="9975167" y="6587510"/>
            <a:ext cx="2073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1000" dirty="0">
                <a:solidFill>
                  <a:schemeClr val="bg1"/>
                </a:solidFill>
              </a:rPr>
              <a:t>2025-03-15</a:t>
            </a:r>
          </a:p>
        </p:txBody>
      </p:sp>
    </p:spTree>
    <p:extLst>
      <p:ext uri="{BB962C8B-B14F-4D97-AF65-F5344CB8AC3E}">
        <p14:creationId xmlns:p14="http://schemas.microsoft.com/office/powerpoint/2010/main" val="88335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>
                <a:solidFill>
                  <a:schemeClr val="tx1"/>
                </a:solidFill>
              </a:rPr>
              <a:t>D7047E</a:t>
            </a:r>
            <a:r>
              <a:rPr lang="en-SE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Group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dirty="0">
                <a:solidFill>
                  <a:schemeClr val="tx1"/>
                </a:solidFill>
              </a:rPr>
              <a:t>Adesijibomi Aderinto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Oghenero Jeremiah </a:t>
            </a:r>
            <a:r>
              <a:rPr dirty="0" err="1">
                <a:solidFill>
                  <a:schemeClr val="tx1"/>
                </a:solidFill>
              </a:rPr>
              <a:t>Opia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2025-05-18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8587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General information about the project.</a:t>
            </a:r>
          </a:p>
          <a:p>
            <a:pPr marL="0" lvl="0" indent="0">
              <a:buNone/>
            </a:pPr>
            <a:r>
              <a:rPr dirty="0"/>
              <a:t>Project goals:</a:t>
            </a:r>
          </a:p>
          <a:p>
            <a:pPr lvl="0"/>
            <a:r>
              <a:rPr dirty="0"/>
              <a:t>Binary sentimental classification between hate and non hate speech.</a:t>
            </a:r>
          </a:p>
          <a:p>
            <a:pPr marL="0" lvl="0" indent="0">
              <a:buNone/>
            </a:pPr>
            <a:r>
              <a:rPr dirty="0"/>
              <a:t>Data Sources:</a:t>
            </a:r>
          </a:p>
          <a:p>
            <a:pPr lvl="0"/>
            <a:r>
              <a:rPr dirty="0"/>
              <a:t>Automated Hate Speech Detection and the Problem of Offensive Language (</a:t>
            </a:r>
            <a:r>
              <a:rPr dirty="0" err="1"/>
              <a:t>MrMorj</a:t>
            </a:r>
            <a:r>
              <a:rPr dirty="0"/>
              <a:t> 2022)</a:t>
            </a:r>
          </a:p>
          <a:p>
            <a:pPr lvl="0"/>
            <a:r>
              <a:rPr dirty="0" err="1"/>
              <a:t>DistilBert</a:t>
            </a:r>
            <a:r>
              <a:rPr dirty="0"/>
              <a:t> pretrained model (Sanh et al. 2019)</a:t>
            </a:r>
          </a:p>
          <a:p>
            <a:pPr lvl="0"/>
            <a:r>
              <a:rPr dirty="0"/>
              <a:t>Test evaluation data (Yer 2020)</a:t>
            </a:r>
          </a:p>
          <a:p>
            <a:pPr marL="0" lvl="0" indent="0">
              <a:buNone/>
            </a:pPr>
            <a:r>
              <a:rPr lang="en-SE" dirty="0"/>
              <a:t>Methodology:</a:t>
            </a:r>
          </a:p>
          <a:p>
            <a:r>
              <a:rPr lang="en-US" dirty="0"/>
              <a:t>Custom LSTM-based </a:t>
            </a:r>
            <a:r>
              <a:rPr lang="en-US" dirty="0" err="1"/>
              <a:t>Keras</a:t>
            </a:r>
            <a:r>
              <a:rPr lang="en-US" dirty="0"/>
              <a:t> model</a:t>
            </a:r>
            <a:endParaRPr lang="en-SE" dirty="0"/>
          </a:p>
          <a:p>
            <a:r>
              <a:rPr lang="en-US" dirty="0"/>
              <a:t>Pretrained </a:t>
            </a:r>
            <a:r>
              <a:rPr lang="en-US" dirty="0" err="1"/>
              <a:t>DistilBERT</a:t>
            </a:r>
            <a:r>
              <a:rPr lang="en-US" dirty="0"/>
              <a:t> (Hugging Face).</a:t>
            </a:r>
            <a:endParaRPr lang="en-SE" dirty="0"/>
          </a:p>
          <a:p>
            <a:pPr marL="0" lvl="0" indent="0">
              <a:buNone/>
            </a:pPr>
            <a:r>
              <a:rPr dirty="0"/>
              <a:t> 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endParaRPr dirty="0"/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4400" dirty="0"/>
              <a:t>Data preprocessing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Text Preprocessing: Removes;</a:t>
            </a:r>
          </a:p>
          <a:p>
            <a:pPr lvl="1"/>
            <a:r>
              <a:rPr dirty="0"/>
              <a:t>Removes Emails</a:t>
            </a:r>
          </a:p>
          <a:p>
            <a:pPr lvl="1"/>
            <a:r>
              <a:rPr dirty="0"/>
              <a:t>Removes IP addresses</a:t>
            </a:r>
          </a:p>
          <a:p>
            <a:pPr lvl="1"/>
            <a:r>
              <a:rPr dirty="0"/>
              <a:t>Removes Punctuation</a:t>
            </a:r>
          </a:p>
          <a:p>
            <a:pPr lvl="1"/>
            <a:r>
              <a:rPr dirty="0"/>
              <a:t>Removes Numbers</a:t>
            </a:r>
          </a:p>
          <a:p>
            <a:pPr lvl="1"/>
            <a:r>
              <a:rPr dirty="0"/>
              <a:t>Removes </a:t>
            </a:r>
            <a:r>
              <a:rPr dirty="0" err="1"/>
              <a:t>stopwords</a:t>
            </a:r>
            <a:r>
              <a:rPr dirty="0"/>
              <a:t> using NLTK</a:t>
            </a:r>
          </a:p>
          <a:p>
            <a:pPr lvl="1"/>
            <a:r>
              <a:rPr dirty="0"/>
              <a:t>Tokenizes words.</a:t>
            </a:r>
          </a:p>
          <a:p>
            <a:pPr marL="0" lvl="0" indent="0">
              <a:buNone/>
            </a:pPr>
            <a:r>
              <a:rPr lang="en-US" sz="24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EE577-0443-8C72-A3CE-0A781A3C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256439"/>
            <a:ext cx="5181600" cy="14897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t>1. Model Training and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en-US" sz="1800" dirty="0"/>
              <a:t>Custom Bidirectional LSTM model using Amazon hate speech data:</a:t>
            </a:r>
          </a:p>
          <a:p>
            <a:pPr lvl="1"/>
            <a:r>
              <a:rPr lang="en-US" sz="1800" dirty="0"/>
              <a:t>Uses Tokenizer and </a:t>
            </a:r>
            <a:r>
              <a:rPr lang="en-US" sz="1800" dirty="0" err="1"/>
              <a:t>pad_sequences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Train/</a:t>
            </a:r>
            <a:r>
              <a:rPr lang="en-US" sz="1800" dirty="0" err="1"/>
              <a:t>val</a:t>
            </a:r>
            <a:r>
              <a:rPr lang="en-US" sz="1800" dirty="0"/>
              <a:t>/test split.</a:t>
            </a:r>
          </a:p>
          <a:p>
            <a:pPr lvl="1"/>
            <a:r>
              <a:rPr lang="en-US" sz="1800" dirty="0"/>
              <a:t>Simple architecture: Embedding → </a:t>
            </a:r>
            <a:r>
              <a:rPr lang="en-US" sz="1800" dirty="0" err="1"/>
              <a:t>BiLSTM</a:t>
            </a:r>
            <a:r>
              <a:rPr lang="en-US" sz="1800" dirty="0"/>
              <a:t> → Dense.</a:t>
            </a:r>
          </a:p>
          <a:p>
            <a:pPr lvl="1"/>
            <a:r>
              <a:rPr lang="en-US" sz="1800" dirty="0"/>
              <a:t>Uses </a:t>
            </a:r>
            <a:r>
              <a:rPr lang="en-US" sz="1800" dirty="0" err="1"/>
              <a:t>binary_crossentropy</a:t>
            </a:r>
            <a:r>
              <a:rPr lang="en-US" sz="1800" dirty="0"/>
              <a:t>, tracks accuracy.</a:t>
            </a:r>
          </a:p>
          <a:p>
            <a:pPr lvl="0"/>
            <a:r>
              <a:rPr lang="en-US" sz="1800" dirty="0"/>
              <a:t>Logs:</a:t>
            </a:r>
          </a:p>
          <a:p>
            <a:pPr lvl="1"/>
            <a:r>
              <a:rPr lang="en-US" sz="1800" dirty="0"/>
              <a:t>Loss/accuracy (train &amp; </a:t>
            </a:r>
            <a:r>
              <a:rPr lang="en-US" sz="1800" dirty="0" err="1"/>
              <a:t>val</a:t>
            </a:r>
            <a:r>
              <a:rPr lang="en-US" sz="1800" dirty="0"/>
              <a:t>) to </a:t>
            </a:r>
            <a:r>
              <a:rPr lang="en-US" sz="1800" dirty="0" err="1"/>
              <a:t>TensorBoard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Confusion matrix</a:t>
            </a:r>
          </a:p>
          <a:p>
            <a:pPr lvl="1"/>
            <a:r>
              <a:rPr lang="en-US" sz="1800" dirty="0"/>
              <a:t>Word &amp; sentence embeddings</a:t>
            </a:r>
          </a:p>
          <a:p>
            <a:pPr lvl="1"/>
            <a:r>
              <a:rPr lang="en-US" sz="1800" dirty="0"/>
              <a:t>Text predictions with probabilities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76D415-83B4-4FE4-565D-0BD4C304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62613"/>
            <a:ext cx="5181600" cy="32773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03EFA68-117E-D393-3927-B11416FD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8587"/>
          </a:xfrm>
        </p:spPr>
        <p:txBody>
          <a:bodyPr/>
          <a:lstStyle/>
          <a:p>
            <a:r>
              <a:rPr lang="en-SE" dirty="0"/>
              <a:t>Sentence Embeddings for Bidirectional LSTM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5C713-89B6-BFAF-09E7-7B513E52D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41" y="743712"/>
            <a:ext cx="9322718" cy="58033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576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t>2. Pretrained DistilBERT model (if use_pretrained=True)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en-US" sz="2200" dirty="0"/>
              <a:t>Loads Amazon Polarity dataset (subset).</a:t>
            </a:r>
          </a:p>
          <a:p>
            <a:pPr lvl="0"/>
            <a:r>
              <a:rPr lang="en-US" sz="2200" dirty="0"/>
              <a:t>Tokenized using </a:t>
            </a:r>
            <a:r>
              <a:rPr lang="en-US" sz="2200" dirty="0" err="1"/>
              <a:t>DistilBertTokenizerFast</a:t>
            </a:r>
            <a:r>
              <a:rPr lang="en-US" sz="2200" dirty="0"/>
              <a:t>.</a:t>
            </a:r>
          </a:p>
          <a:p>
            <a:pPr lvl="0"/>
            <a:r>
              <a:rPr lang="en-US" sz="2200" dirty="0"/>
              <a:t>Sets class weights to handle imbalance.</a:t>
            </a:r>
          </a:p>
          <a:p>
            <a:pPr lvl="0"/>
            <a:r>
              <a:rPr lang="en-US" sz="2200" dirty="0"/>
              <a:t>Uses Hugging Face’s Trainer with a custom </a:t>
            </a:r>
            <a:r>
              <a:rPr lang="en-US" sz="2200" dirty="0" err="1"/>
              <a:t>WeightedLossTrainer</a:t>
            </a:r>
            <a:r>
              <a:rPr lang="en-US" sz="2200" dirty="0"/>
              <a:t>.</a:t>
            </a:r>
          </a:p>
          <a:p>
            <a:pPr lvl="0"/>
            <a:r>
              <a:rPr lang="en-US" sz="2200" dirty="0"/>
              <a:t>Logs:</a:t>
            </a:r>
          </a:p>
          <a:p>
            <a:pPr lvl="1"/>
            <a:r>
              <a:rPr lang="en-US" sz="2200" dirty="0"/>
              <a:t>Train/test accuracy to </a:t>
            </a:r>
            <a:r>
              <a:rPr lang="en-US" sz="2200" dirty="0" err="1"/>
              <a:t>TensorBoard</a:t>
            </a:r>
            <a:endParaRPr lang="en-US" sz="2200" dirty="0"/>
          </a:p>
          <a:p>
            <a:pPr lvl="1"/>
            <a:r>
              <a:rPr lang="en-US" sz="2200" dirty="0"/>
              <a:t>Test set embeddings (from CLS token)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F8721-4DBA-4822-5D2B-550B2602A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945543"/>
            <a:ext cx="5181600" cy="21115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8587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3. Evaluation on Unlabeled Data: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Preprocesses and tokenizes new input data.</a:t>
            </a:r>
          </a:p>
          <a:p>
            <a:pPr lvl="0"/>
            <a:r>
              <a:rPr dirty="0"/>
              <a:t>Runs model inference on either:</a:t>
            </a:r>
          </a:p>
          <a:p>
            <a:pPr lvl="0"/>
            <a:r>
              <a:rPr dirty="0" err="1"/>
              <a:t>Keras</a:t>
            </a:r>
            <a:r>
              <a:rPr dirty="0"/>
              <a:t> model: generates predictions, sentence embeddings</a:t>
            </a:r>
          </a:p>
          <a:p>
            <a:pPr lvl="0"/>
            <a:r>
              <a:rPr dirty="0"/>
              <a:t>Pretrained model: uses BERT’s CLS token output as embeddings</a:t>
            </a:r>
          </a:p>
          <a:p>
            <a:pPr lvl="0"/>
            <a:r>
              <a:rPr dirty="0"/>
              <a:t>Logs to </a:t>
            </a:r>
            <a:r>
              <a:rPr dirty="0" err="1"/>
              <a:t>TensorBoard</a:t>
            </a:r>
            <a:r>
              <a:rPr dirty="0"/>
              <a:t>:</a:t>
            </a:r>
          </a:p>
          <a:p>
            <a:pPr lvl="1"/>
            <a:r>
              <a:rPr dirty="0"/>
              <a:t>Predictions and probabilities</a:t>
            </a:r>
          </a:p>
          <a:p>
            <a:pPr lvl="1"/>
            <a:r>
              <a:rPr dirty="0"/>
              <a:t>Text with predicted vs. true labels</a:t>
            </a:r>
          </a:p>
          <a:p>
            <a:pPr lvl="1"/>
            <a:r>
              <a:rPr dirty="0"/>
              <a:t>Confusion matrix </a:t>
            </a:r>
          </a:p>
          <a:p>
            <a:pPr lvl="1"/>
            <a:endParaRPr lang="en-SE" dirty="0"/>
          </a:p>
          <a:p>
            <a:pPr lvl="1"/>
            <a:endParaRPr lang="en-SE" dirty="0"/>
          </a:p>
          <a:p>
            <a:pPr lvl="1"/>
            <a:endParaRPr lang="en-SE" dirty="0"/>
          </a:p>
          <a:p>
            <a:pPr lvl="1"/>
            <a:endParaRPr lang="en-SE" dirty="0"/>
          </a:p>
          <a:p>
            <a:pPr lvl="1"/>
            <a:endParaRPr lang="en-SE" dirty="0"/>
          </a:p>
          <a:p>
            <a:pPr lvl="1"/>
            <a:endParaRPr lang="en-SE" dirty="0"/>
          </a:p>
          <a:p>
            <a:pPr lvl="1"/>
            <a:endParaRPr dirty="0"/>
          </a:p>
          <a:p>
            <a:pPr lvl="1"/>
            <a:endParaRPr lang="en-SE" dirty="0"/>
          </a:p>
          <a:p>
            <a:pPr lvl="1"/>
            <a:endParaRPr dirty="0"/>
          </a:p>
          <a:p>
            <a:pPr lvl="1"/>
            <a:endParaRPr lang="en-SE" dirty="0"/>
          </a:p>
          <a:p>
            <a:pPr lvl="1"/>
            <a:endParaRPr dirty="0"/>
          </a:p>
          <a:p>
            <a:pPr lvl="1"/>
            <a:endParaRPr lang="en-SE" dirty="0"/>
          </a:p>
          <a:p>
            <a:pPr lvl="1"/>
            <a:endParaRPr dirty="0"/>
          </a:p>
          <a:p>
            <a:pPr lvl="1"/>
            <a:endParaRPr dirty="0"/>
          </a:p>
          <a:p>
            <a:pPr marL="0" lv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6C02D-82DE-6E55-0608-62A87A955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5" y="1943100"/>
            <a:ext cx="6885277" cy="4056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D98A-D34E-D5E2-B543-E660C17B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E" sz="2800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6AE29-D489-54CD-AB13-0CF91072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MrMorj</a:t>
            </a:r>
            <a:r>
              <a:rPr lang="en-US" dirty="0"/>
              <a:t>. 2022. “Twitter Sentiment Analysis for Hate Speech Detection.” https://www.kaggle.com/code/mrmorj/twitter-sentiment-analysis-hatred-speech.</a:t>
            </a:r>
          </a:p>
          <a:p>
            <a:r>
              <a:rPr lang="en-US" dirty="0"/>
              <a:t>Sanh, Victor, Lysandre Debut, Julien </a:t>
            </a:r>
            <a:r>
              <a:rPr lang="en-US" dirty="0" err="1"/>
              <a:t>Chaumond</a:t>
            </a:r>
            <a:r>
              <a:rPr lang="en-US" dirty="0"/>
              <a:t>, and Thomas Wolf. 2019. “</a:t>
            </a:r>
            <a:r>
              <a:rPr lang="en-US" dirty="0" err="1"/>
              <a:t>DistilBERT</a:t>
            </a:r>
            <a:r>
              <a:rPr lang="en-US" dirty="0"/>
              <a:t>, a Distilled Version of BERT: Smaller, Faster, Cheaper and Lighter.” </a:t>
            </a:r>
            <a:r>
              <a:rPr lang="en-US" dirty="0" err="1"/>
              <a:t>arXiv</a:t>
            </a:r>
            <a:r>
              <a:rPr lang="en-US" dirty="0"/>
              <a:t> Preprint arXiv:1910.01108. https://arxiv.org/abs/1910.01108.</a:t>
            </a:r>
          </a:p>
          <a:p>
            <a:r>
              <a:rPr lang="en-US" dirty="0"/>
              <a:t>Yer, Ashwini. 2020. “Toxic, Hate and Offensive Tweets Dataset.” https://www.kaggle.com/datasets/ashwiniyer176/toxic-hate-and-offensive-comments.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858048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D7047E Group 15</vt:lpstr>
      <vt:lpstr>Objectives</vt:lpstr>
      <vt:lpstr>Data preprocessing </vt:lpstr>
      <vt:lpstr>1. Model Training and Logging</vt:lpstr>
      <vt:lpstr>Sentence Embeddings for Bidirectional LSTM</vt:lpstr>
      <vt:lpstr>2. Pretrained DistilBERT model (if use_pretrained=True)</vt:lpstr>
      <vt:lpstr>3. Evaluation on Unlabeled Data: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Office Theme</Template>
  <TotalTime>633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Deep Learning Project Group 15</dc:title>
  <dc:creator>Adesijibomi Aderinto; Oghenero Jeremiah Opia</dc:creator>
  <cp:keywords/>
  <cp:lastModifiedBy>Adesijibomi Aderinto</cp:lastModifiedBy>
  <cp:revision>1</cp:revision>
  <dcterms:created xsi:type="dcterms:W3CDTF">2025-05-18T20:38:01Z</dcterms:created>
  <dcterms:modified xsi:type="dcterms:W3CDTF">2025-05-18T20:58:16Z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ReferenceA.bib</vt:lpwstr>
  </property>
  <property fmtid="{D5CDD505-2E9C-101B-9397-08002B2CF9AE}" pid="3" name="date">
    <vt:lpwstr>2025-05-18</vt:lpwstr>
  </property>
  <property fmtid="{D5CDD505-2E9C-101B-9397-08002B2CF9AE}" pid="4" name="output">
    <vt:lpwstr/>
  </property>
</Properties>
</file>